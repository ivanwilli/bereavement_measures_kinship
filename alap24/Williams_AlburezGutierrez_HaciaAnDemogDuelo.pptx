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5" r:id="rId6"/>
    <p:sldId id="260" r:id="rId7"/>
    <p:sldId id="266" r:id="rId8"/>
    <p:sldId id="261" r:id="rId9"/>
    <p:sldId id="262" r:id="rId10"/>
    <p:sldId id="263" r:id="rId11"/>
    <p:sldId id="264" r:id="rId12"/>
  </p:sldIdLst>
  <p:sldSz cx="18288000" cy="10287000"/>
  <p:notesSz cx="6858000" cy="9144000"/>
  <p:embeddedFontLst>
    <p:embeddedFont>
      <p:font typeface="Cambria Math" panose="02040503050406030204" pitchFamily="18" charset="0"/>
      <p:regular r:id="rId14"/>
    </p:embeddedFont>
    <p:embeddedFont>
      <p:font typeface="DM Sans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iNjpW6RQoFKtjii9j81dKuO8k2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903" autoAdjust="0"/>
  </p:normalViewPr>
  <p:slideViewPr>
    <p:cSldViewPr snapToGrid="0">
      <p:cViewPr varScale="1">
        <p:scale>
          <a:sx n="47" d="100"/>
          <a:sy n="47" d="100"/>
        </p:scale>
        <p:origin x="1138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sz="1800" b="0" i="0" u="none" strike="noStrike" baseline="0" dirty="0">
                <a:latin typeface="CMR10"/>
              </a:rPr>
              <a:t>These dimensions include the ages of both the focal individual and the relative, their respective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genders, the type of kin relationship, whether the perspective is prospective or retrospective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(considering the burden of past experiences or anticipated loss), as well as cultural and socioeconomic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factors, among others.</a:t>
            </a:r>
            <a:endParaRPr dirty="0"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93FF409C-C1C0-775A-6ADE-AA0B67DD8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FD13F21D-AE3D-DD0C-747F-1E96007C4F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sz="1800" b="0" i="0" u="none" strike="noStrike" baseline="0" dirty="0">
                <a:latin typeface="CMR10"/>
              </a:rPr>
              <a:t>a life expectancy at birth from 60 to 76 in Argentina, and from 40 to 73 in Guatemala,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a TFR from 3.1 to below 2 in Argentina, and from 7 to 2.5 in Guatemala</a:t>
            </a:r>
            <a:endParaRPr dirty="0"/>
          </a:p>
        </p:txBody>
      </p:sp>
      <p:sp>
        <p:nvSpPr>
          <p:cNvPr id="99" name="Google Shape;99;p2:notes">
            <a:extLst>
              <a:ext uri="{FF2B5EF4-FFF2-40B4-BE49-F238E27FC236}">
                <a16:creationId xmlns:a16="http://schemas.microsoft.com/office/drawing/2014/main" id="{F0BFE6D3-B174-A5BD-2045-E8FD9B8374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79078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D21BFF0B-89F1-C4D8-7505-91DAD6D5A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9A5AAAC5-CC22-EA01-63A5-775B454EF7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>
            <a:extLst>
              <a:ext uri="{FF2B5EF4-FFF2-40B4-BE49-F238E27FC236}">
                <a16:creationId xmlns:a16="http://schemas.microsoft.com/office/drawing/2014/main" id="{A7BAD0D9-6A21-2C2E-6409-82801F5C5F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10349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BCA44CEB-CDF9-C2FE-B25B-6DBC76E82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53C88A8B-0410-9B40-FA8C-058A8529A9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sz="1800" b="0" i="0" u="none" strike="noStrike" baseline="0" dirty="0">
                <a:latin typeface="CMR10"/>
              </a:rPr>
              <a:t>Guatemalan woman expected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to spend more than 40 kin-years in bereavement because of her siblings, with a life expectancy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round this value too, an historical disadvantage in terms of burden of bereavement.</a:t>
            </a:r>
            <a:endParaRPr dirty="0"/>
          </a:p>
        </p:txBody>
      </p:sp>
      <p:sp>
        <p:nvSpPr>
          <p:cNvPr id="99" name="Google Shape;99;p2:notes">
            <a:extLst>
              <a:ext uri="{FF2B5EF4-FFF2-40B4-BE49-F238E27FC236}">
                <a16:creationId xmlns:a16="http://schemas.microsoft.com/office/drawing/2014/main" id="{52A5A938-766F-320F-A729-A1954502E3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143958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68D681DB-BF1B-2442-FCA7-EF773287F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8F819E20-09BD-C2E3-6346-7576A17465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>
            <a:extLst>
              <a:ext uri="{FF2B5EF4-FFF2-40B4-BE49-F238E27FC236}">
                <a16:creationId xmlns:a16="http://schemas.microsoft.com/office/drawing/2014/main" id="{4F500B2E-1AD1-D208-43B6-4448D58325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217820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AAAD238C-5C3B-0D35-BB9A-039142586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9E194CE7-D125-0B2B-D0CD-CEFF62DEE0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>
            <a:extLst>
              <a:ext uri="{FF2B5EF4-FFF2-40B4-BE49-F238E27FC236}">
                <a16:creationId xmlns:a16="http://schemas.microsoft.com/office/drawing/2014/main" id="{E329BF94-2555-3255-F334-C7404AF22B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532667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3465E870-A713-F96D-BFDA-5880ADFDC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CC845471-2C45-F50D-C179-6FDC59C70B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9" name="Google Shape;99;p2:notes">
            <a:extLst>
              <a:ext uri="{FF2B5EF4-FFF2-40B4-BE49-F238E27FC236}">
                <a16:creationId xmlns:a16="http://schemas.microsoft.com/office/drawing/2014/main" id="{F7853DB5-31AE-8454-79E0-B08C84E752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56947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14139765-DCAF-7446-082C-263D03F8A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1F4F6C6B-BAEC-AFFD-662B-E2A7A3DC78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>
            <a:extLst>
              <a:ext uri="{FF2B5EF4-FFF2-40B4-BE49-F238E27FC236}">
                <a16:creationId xmlns:a16="http://schemas.microsoft.com/office/drawing/2014/main" id="{CC8E8E23-88AD-2A1E-6181-2A66691280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909190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FB0CAE5A-69D4-BD59-751F-EF771CFE7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093EBB80-F48A-B88D-620C-45BE558BE3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>
            <a:extLst>
              <a:ext uri="{FF2B5EF4-FFF2-40B4-BE49-F238E27FC236}">
                <a16:creationId xmlns:a16="http://schemas.microsoft.com/office/drawing/2014/main" id="{5C624178-6F5E-3225-7E60-2DF668C244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42839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02D9EEB2-3709-DF8C-B965-AA6BF1B4B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8512F4D9-40F2-0CD1-0872-2143DC49D4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>
            <a:extLst>
              <a:ext uri="{FF2B5EF4-FFF2-40B4-BE49-F238E27FC236}">
                <a16:creationId xmlns:a16="http://schemas.microsoft.com/office/drawing/2014/main" id="{85106FC4-C527-7A51-BD69-4618606F34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57422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"/>
          <p:cNvSpPr/>
          <p:nvPr/>
        </p:nvSpPr>
        <p:spPr>
          <a:xfrm>
            <a:off x="564032" y="3681044"/>
            <a:ext cx="5664816" cy="3616418"/>
          </a:xfrm>
          <a:custGeom>
            <a:avLst/>
            <a:gdLst/>
            <a:ahLst/>
            <a:cxnLst/>
            <a:rect l="l" t="t" r="r" b="b"/>
            <a:pathLst>
              <a:path w="5664816" h="3616418" extrusionOk="0">
                <a:moveTo>
                  <a:pt x="0" y="0"/>
                </a:moveTo>
                <a:lnTo>
                  <a:pt x="5664816" y="0"/>
                </a:lnTo>
                <a:lnTo>
                  <a:pt x="5664816" y="3616419"/>
                </a:lnTo>
                <a:lnTo>
                  <a:pt x="0" y="36164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2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343142" y="548972"/>
            <a:ext cx="2423563" cy="959457"/>
          </a:xfrm>
          <a:custGeom>
            <a:avLst/>
            <a:gdLst/>
            <a:ahLst/>
            <a:cxnLst/>
            <a:rect l="l" t="t" r="r" b="b"/>
            <a:pathLst>
              <a:path w="2423563" h="959457" extrusionOk="0">
                <a:moveTo>
                  <a:pt x="0" y="0"/>
                </a:moveTo>
                <a:lnTo>
                  <a:pt x="2423563" y="0"/>
                </a:lnTo>
                <a:lnTo>
                  <a:pt x="2423563" y="959456"/>
                </a:lnTo>
                <a:lnTo>
                  <a:pt x="0" y="959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8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2078249" y="8833200"/>
            <a:ext cx="14131500" cy="14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2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7D7373"/>
                </a:solidFill>
                <a:latin typeface="DM Sans"/>
                <a:ea typeface="DM Sans"/>
                <a:cs typeface="DM Sans"/>
                <a:sym typeface="DM Sans"/>
              </a:rPr>
              <a:t>XI Congreso de la </a:t>
            </a:r>
            <a:r>
              <a:rPr lang="en-US" sz="1900" dirty="0" err="1">
                <a:solidFill>
                  <a:srgbClr val="7D7373"/>
                </a:solidFill>
                <a:latin typeface="DM Sans"/>
                <a:ea typeface="DM Sans"/>
                <a:cs typeface="DM Sans"/>
                <a:sym typeface="DM Sans"/>
              </a:rPr>
              <a:t>Asociación</a:t>
            </a:r>
            <a:r>
              <a:rPr lang="en-US" sz="1900" dirty="0">
                <a:solidFill>
                  <a:srgbClr val="7D7373"/>
                </a:solidFill>
                <a:latin typeface="DM Sans"/>
                <a:ea typeface="DM Sans"/>
                <a:cs typeface="DM Sans"/>
                <a:sym typeface="DM Sans"/>
              </a:rPr>
              <a:t> Latinoamericana de Población (ALAP)</a:t>
            </a:r>
            <a:endParaRPr sz="1300" dirty="0"/>
          </a:p>
          <a:p>
            <a:pPr marL="0" marR="0" lvl="0" indent="0" algn="ctr" rtl="0">
              <a:lnSpc>
                <a:spcPct val="132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7D7373"/>
                </a:solidFill>
                <a:latin typeface="DM Sans"/>
                <a:ea typeface="DM Sans"/>
                <a:cs typeface="DM Sans"/>
                <a:sym typeface="DM Sans"/>
              </a:rPr>
              <a:t>Los “</a:t>
            </a:r>
            <a:r>
              <a:rPr lang="en-US" sz="1900" dirty="0" err="1">
                <a:solidFill>
                  <a:srgbClr val="7D7373"/>
                </a:solidFill>
                <a:latin typeface="DM Sans"/>
                <a:ea typeface="DM Sans"/>
                <a:cs typeface="DM Sans"/>
                <a:sym typeface="DM Sans"/>
              </a:rPr>
              <a:t>nuevos</a:t>
            </a:r>
            <a:r>
              <a:rPr lang="en-US" sz="1900" dirty="0">
                <a:solidFill>
                  <a:srgbClr val="7D7373"/>
                </a:solidFill>
                <a:latin typeface="DM Sans"/>
                <a:ea typeface="DM Sans"/>
                <a:cs typeface="DM Sans"/>
                <a:sym typeface="DM Sans"/>
              </a:rPr>
              <a:t>” </a:t>
            </a:r>
            <a:r>
              <a:rPr lang="en-US" sz="1900" dirty="0" err="1">
                <a:solidFill>
                  <a:srgbClr val="7D7373"/>
                </a:solidFill>
                <a:latin typeface="DM Sans"/>
                <a:ea typeface="DM Sans"/>
                <a:cs typeface="DM Sans"/>
                <a:sym typeface="DM Sans"/>
              </a:rPr>
              <a:t>escenarios</a:t>
            </a:r>
            <a:r>
              <a:rPr lang="en-US" sz="1900" dirty="0">
                <a:solidFill>
                  <a:srgbClr val="7D737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900" dirty="0" err="1">
                <a:solidFill>
                  <a:srgbClr val="7D7373"/>
                </a:solidFill>
                <a:latin typeface="DM Sans"/>
                <a:ea typeface="DM Sans"/>
                <a:cs typeface="DM Sans"/>
                <a:sym typeface="DM Sans"/>
              </a:rPr>
              <a:t>demográficos</a:t>
            </a:r>
            <a:r>
              <a:rPr lang="en-US" sz="1900" dirty="0">
                <a:solidFill>
                  <a:srgbClr val="7D7373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lang="en-US" sz="1900" dirty="0" err="1">
                <a:solidFill>
                  <a:srgbClr val="7D7373"/>
                </a:solidFill>
                <a:latin typeface="DM Sans"/>
                <a:ea typeface="DM Sans"/>
                <a:cs typeface="DM Sans"/>
                <a:sym typeface="DM Sans"/>
              </a:rPr>
              <a:t>los</a:t>
            </a:r>
            <a:r>
              <a:rPr lang="en-US" sz="1900" dirty="0">
                <a:solidFill>
                  <a:srgbClr val="7D737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900" dirty="0" err="1">
                <a:solidFill>
                  <a:srgbClr val="7D7373"/>
                </a:solidFill>
                <a:latin typeface="DM Sans"/>
                <a:ea typeface="DM Sans"/>
                <a:cs typeface="DM Sans"/>
                <a:sym typeface="DM Sans"/>
              </a:rPr>
              <a:t>aportes</a:t>
            </a:r>
            <a:r>
              <a:rPr lang="en-US" sz="1900" dirty="0">
                <a:solidFill>
                  <a:srgbClr val="7D7373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1900" dirty="0" err="1">
                <a:solidFill>
                  <a:srgbClr val="7D7373"/>
                </a:solidFill>
                <a:latin typeface="DM Sans"/>
                <a:ea typeface="DM Sans"/>
                <a:cs typeface="DM Sans"/>
                <a:sym typeface="DM Sans"/>
              </a:rPr>
              <a:t>los</a:t>
            </a:r>
            <a:r>
              <a:rPr lang="en-US" sz="1900" dirty="0">
                <a:solidFill>
                  <a:srgbClr val="7D737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900" dirty="0" err="1">
                <a:solidFill>
                  <a:srgbClr val="7D7373"/>
                </a:solidFill>
                <a:latin typeface="DM Sans"/>
                <a:ea typeface="DM Sans"/>
                <a:cs typeface="DM Sans"/>
                <a:sym typeface="DM Sans"/>
              </a:rPr>
              <a:t>estudios</a:t>
            </a:r>
            <a:r>
              <a:rPr lang="en-US" sz="1900" dirty="0">
                <a:solidFill>
                  <a:srgbClr val="7D7373"/>
                </a:solidFill>
                <a:latin typeface="DM Sans"/>
                <a:ea typeface="DM Sans"/>
                <a:cs typeface="DM Sans"/>
                <a:sym typeface="DM Sans"/>
              </a:rPr>
              <a:t> de población </a:t>
            </a:r>
            <a:r>
              <a:rPr lang="en-US" sz="1900" dirty="0" err="1">
                <a:solidFill>
                  <a:srgbClr val="7D7373"/>
                </a:solidFill>
                <a:latin typeface="DM Sans"/>
                <a:ea typeface="DM Sans"/>
                <a:cs typeface="DM Sans"/>
                <a:sym typeface="DM Sans"/>
              </a:rPr>
              <a:t>en</a:t>
            </a:r>
            <a:r>
              <a:rPr lang="en-US" sz="1900" dirty="0">
                <a:solidFill>
                  <a:srgbClr val="7D7373"/>
                </a:solidFill>
                <a:latin typeface="DM Sans"/>
                <a:ea typeface="DM Sans"/>
                <a:cs typeface="DM Sans"/>
                <a:sym typeface="DM Sans"/>
              </a:rPr>
              <a:t> América Latina y </a:t>
            </a:r>
            <a:r>
              <a:rPr lang="en-US" sz="1900" dirty="0" err="1">
                <a:solidFill>
                  <a:srgbClr val="7D7373"/>
                </a:solidFill>
                <a:latin typeface="DM Sans"/>
                <a:ea typeface="DM Sans"/>
                <a:cs typeface="DM Sans"/>
                <a:sym typeface="DM Sans"/>
              </a:rPr>
              <a:t>el</a:t>
            </a:r>
            <a:r>
              <a:rPr lang="en-US" sz="1900" dirty="0">
                <a:solidFill>
                  <a:srgbClr val="7D7373"/>
                </a:solidFill>
                <a:latin typeface="DM Sans"/>
                <a:ea typeface="DM Sans"/>
                <a:cs typeface="DM Sans"/>
                <a:sym typeface="DM Sans"/>
              </a:rPr>
              <a:t> Caribe</a:t>
            </a:r>
            <a:endParaRPr sz="1300" dirty="0"/>
          </a:p>
          <a:p>
            <a:pPr marL="0" marR="0" lvl="0" indent="0" algn="ctr" rtl="0">
              <a:lnSpc>
                <a:spcPct val="132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7D7373"/>
                </a:solidFill>
                <a:latin typeface="DM Sans"/>
                <a:ea typeface="DM Sans"/>
                <a:cs typeface="DM Sans"/>
                <a:sym typeface="DM Sans"/>
              </a:rPr>
              <a:t>Universidad </a:t>
            </a:r>
            <a:r>
              <a:rPr lang="en-US" sz="1900" dirty="0" err="1">
                <a:solidFill>
                  <a:srgbClr val="7D7373"/>
                </a:solidFill>
                <a:latin typeface="DM Sans"/>
                <a:ea typeface="DM Sans"/>
                <a:cs typeface="DM Sans"/>
                <a:sym typeface="DM Sans"/>
              </a:rPr>
              <a:t>Externado</a:t>
            </a:r>
            <a:r>
              <a:rPr lang="en-US" sz="1900" dirty="0">
                <a:solidFill>
                  <a:srgbClr val="7D7373"/>
                </a:solidFill>
                <a:latin typeface="DM Sans"/>
                <a:ea typeface="DM Sans"/>
                <a:cs typeface="DM Sans"/>
                <a:sym typeface="DM Sans"/>
              </a:rPr>
              <a:t> de Colombia, Bogotá</a:t>
            </a:r>
            <a:endParaRPr sz="1300" dirty="0"/>
          </a:p>
          <a:p>
            <a:pPr marL="0" marR="0" lvl="0" indent="0" algn="ctr" rtl="0">
              <a:lnSpc>
                <a:spcPct val="132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7D7373"/>
                </a:solidFill>
                <a:latin typeface="DM Sans"/>
                <a:ea typeface="DM Sans"/>
                <a:cs typeface="DM Sans"/>
                <a:sym typeface="DM Sans"/>
              </a:rPr>
              <a:t>9 al 13 de </a:t>
            </a:r>
            <a:r>
              <a:rPr lang="en-US" sz="1900" dirty="0" err="1">
                <a:solidFill>
                  <a:srgbClr val="7D7373"/>
                </a:solidFill>
                <a:latin typeface="DM Sans"/>
                <a:ea typeface="DM Sans"/>
                <a:cs typeface="DM Sans"/>
                <a:sym typeface="DM Sans"/>
              </a:rPr>
              <a:t>diciembre</a:t>
            </a:r>
            <a:r>
              <a:rPr lang="en-US" sz="1900" dirty="0">
                <a:solidFill>
                  <a:srgbClr val="7D7373"/>
                </a:solidFill>
                <a:latin typeface="DM Sans"/>
                <a:ea typeface="DM Sans"/>
                <a:cs typeface="DM Sans"/>
                <a:sym typeface="DM Sans"/>
              </a:rPr>
              <a:t> de 2024</a:t>
            </a:r>
            <a:endParaRPr sz="1300" dirty="0"/>
          </a:p>
        </p:txBody>
      </p:sp>
      <p:cxnSp>
        <p:nvCxnSpPr>
          <p:cNvPr id="91" name="Google Shape;91;p1"/>
          <p:cNvCxnSpPr/>
          <p:nvPr/>
        </p:nvCxnSpPr>
        <p:spPr>
          <a:xfrm>
            <a:off x="1657410" y="8821816"/>
            <a:ext cx="14973179" cy="0"/>
          </a:xfrm>
          <a:prstGeom prst="straightConnector1">
            <a:avLst/>
          </a:prstGeom>
          <a:noFill/>
          <a:ln w="28575" cap="flat" cmpd="sng">
            <a:solidFill>
              <a:srgbClr val="7D7373">
                <a:alpha val="3686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2" name="Google Shape;92;p1"/>
          <p:cNvSpPr txBox="1"/>
          <p:nvPr/>
        </p:nvSpPr>
        <p:spPr>
          <a:xfrm>
            <a:off x="7222432" y="1269648"/>
            <a:ext cx="9969752" cy="941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70" b="1" dirty="0">
                <a:solidFill>
                  <a:srgbClr val="FF5400"/>
                </a:solidFill>
                <a:latin typeface="DM Sans"/>
                <a:ea typeface="DM Sans"/>
                <a:cs typeface="DM Sans"/>
                <a:sym typeface="DM Sans"/>
              </a:rPr>
              <a:t>Sesión Regular:</a:t>
            </a:r>
            <a:endParaRPr dirty="0"/>
          </a:p>
        </p:txBody>
      </p:sp>
      <p:sp>
        <p:nvSpPr>
          <p:cNvPr id="93" name="Google Shape;93;p1"/>
          <p:cNvSpPr txBox="1"/>
          <p:nvPr/>
        </p:nvSpPr>
        <p:spPr>
          <a:xfrm>
            <a:off x="7222432" y="2060954"/>
            <a:ext cx="10370304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0" i="0" dirty="0">
                <a:solidFill>
                  <a:srgbClr val="222222"/>
                </a:solidFill>
                <a:effectLst/>
                <a:latin typeface="+mn-lt"/>
              </a:rPr>
              <a:t>Hogares y familia en América Latina II</a:t>
            </a:r>
            <a:endParaRPr lang="es-ES" sz="1000" dirty="0">
              <a:latin typeface="+mn-lt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222432" y="4448335"/>
            <a:ext cx="10370304" cy="94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140000"/>
              </a:lnSpc>
              <a:buNone/>
              <a:defRPr sz="3600">
                <a:solidFill>
                  <a:srgbClr val="222222"/>
                </a:solidFill>
                <a:effectLst/>
                <a:latin typeface="+mn-lt"/>
              </a:defRPr>
            </a:lvl1pPr>
          </a:lstStyle>
          <a:p>
            <a:r>
              <a:rPr lang="en-US" sz="4400" dirty="0" err="1"/>
              <a:t>Hacia</a:t>
            </a:r>
            <a:r>
              <a:rPr lang="en-US" sz="4400" dirty="0"/>
              <a:t> un </a:t>
            </a:r>
            <a:r>
              <a:rPr lang="en-US" sz="4400" dirty="0" err="1"/>
              <a:t>análisis</a:t>
            </a:r>
            <a:r>
              <a:rPr lang="en-US" sz="4400" dirty="0"/>
              <a:t> </a:t>
            </a:r>
            <a:r>
              <a:rPr lang="en-US" sz="4400" dirty="0" err="1"/>
              <a:t>demográfico</a:t>
            </a:r>
            <a:r>
              <a:rPr lang="en-US" sz="4400" dirty="0"/>
              <a:t> del </a:t>
            </a:r>
            <a:r>
              <a:rPr lang="en-US" sz="4400" dirty="0" err="1"/>
              <a:t>duelo</a:t>
            </a:r>
            <a:endParaRPr lang="en-US" sz="4400" dirty="0"/>
          </a:p>
        </p:txBody>
      </p:sp>
      <p:sp>
        <p:nvSpPr>
          <p:cNvPr id="95" name="Google Shape;95;p1"/>
          <p:cNvSpPr txBox="1"/>
          <p:nvPr/>
        </p:nvSpPr>
        <p:spPr>
          <a:xfrm>
            <a:off x="8089903" y="7370219"/>
            <a:ext cx="9502833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Autor/es: </a:t>
            </a:r>
            <a:r>
              <a:rPr lang="es-ES" sz="3200" dirty="0"/>
              <a:t>Iván Williams y Diego Alburez-Gutierrez</a:t>
            </a:r>
            <a:endParaRPr sz="1050" dirty="0"/>
          </a:p>
        </p:txBody>
      </p:sp>
      <p:sp>
        <p:nvSpPr>
          <p:cNvPr id="2" name="Google Shape;94;p1">
            <a:extLst>
              <a:ext uri="{FF2B5EF4-FFF2-40B4-BE49-F238E27FC236}">
                <a16:creationId xmlns:a16="http://schemas.microsoft.com/office/drawing/2014/main" id="{DE1386BD-D349-D19D-3997-2A3E2CDF413F}"/>
              </a:ext>
            </a:extLst>
          </p:cNvPr>
          <p:cNvSpPr txBox="1"/>
          <p:nvPr/>
        </p:nvSpPr>
        <p:spPr>
          <a:xfrm>
            <a:off x="7222432" y="7967513"/>
            <a:ext cx="10370304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140000"/>
              </a:lnSpc>
              <a:buNone/>
              <a:defRPr sz="3600">
                <a:solidFill>
                  <a:srgbClr val="222222"/>
                </a:solidFill>
                <a:effectLst/>
                <a:latin typeface="+mn-lt"/>
              </a:defRPr>
            </a:lvl1pPr>
          </a:lstStyle>
          <a:p>
            <a:r>
              <a:rPr lang="en-US" sz="2400" dirty="0"/>
              <a:t>UNA y MPIDR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/>
          <p:nvPr/>
        </p:nvSpPr>
        <p:spPr>
          <a:xfrm>
            <a:off x="15365427" y="373378"/>
            <a:ext cx="2423563" cy="959457"/>
          </a:xfrm>
          <a:custGeom>
            <a:avLst/>
            <a:gdLst/>
            <a:ahLst/>
            <a:cxnLst/>
            <a:rect l="l" t="t" r="r" b="b"/>
            <a:pathLst>
              <a:path w="2423563" h="959457" extrusionOk="0">
                <a:moveTo>
                  <a:pt x="0" y="0"/>
                </a:moveTo>
                <a:lnTo>
                  <a:pt x="2423563" y="0"/>
                </a:lnTo>
                <a:lnTo>
                  <a:pt x="2423563" y="959456"/>
                </a:lnTo>
                <a:lnTo>
                  <a:pt x="0" y="959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F82CAA-5FC5-9B01-B0DE-FB722B56B649}"/>
              </a:ext>
            </a:extLst>
          </p:cNvPr>
          <p:cNvSpPr txBox="1"/>
          <p:nvPr/>
        </p:nvSpPr>
        <p:spPr>
          <a:xfrm>
            <a:off x="856342" y="591496"/>
            <a:ext cx="38317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000" dirty="0"/>
              <a:t>Introducción</a:t>
            </a:r>
            <a:endParaRPr lang="en-US" sz="4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E3E8F3-424F-F79F-BA3D-7F6DB970BF1C}"/>
              </a:ext>
            </a:extLst>
          </p:cNvPr>
          <p:cNvSpPr txBox="1"/>
          <p:nvPr/>
        </p:nvSpPr>
        <p:spPr>
          <a:xfrm>
            <a:off x="856341" y="1614148"/>
            <a:ext cx="15704459" cy="8463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AR" sz="3200" dirty="0"/>
              <a:t>La pérdida de parientes es una experiencia universal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AR" sz="3200" dirty="0"/>
              <a:t>Más de 60 millones de muertes a nivel mundial dejan anualmente una red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AR" sz="3200" dirty="0"/>
              <a:t>Pérdida (</a:t>
            </a:r>
            <a:r>
              <a:rPr lang="es-AR" sz="3200" dirty="0" err="1"/>
              <a:t>Bereavement</a:t>
            </a:r>
            <a:r>
              <a:rPr lang="es-AR" sz="3200" dirty="0"/>
              <a:t>) ≠ Duelo (</a:t>
            </a:r>
            <a:r>
              <a:rPr lang="es-AR" sz="3200" dirty="0" err="1"/>
              <a:t>Grief</a:t>
            </a:r>
            <a:r>
              <a:rPr lang="es-AR" sz="3200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AR" sz="3200" dirty="0"/>
              <a:t>Un régimen demográfico (fecundidad y mortalidad) conlleva un patrón de pérdida promedio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AR" sz="3200" dirty="0"/>
              <a:t>Covid19: shock, cambio brusco de red. Una alteración del patrón prevalente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AR" sz="3200" dirty="0"/>
          </a:p>
          <a:p>
            <a:r>
              <a:rPr lang="es-AR" sz="3200" u="sng" dirty="0"/>
              <a:t>Pregunta</a:t>
            </a:r>
            <a:r>
              <a:rPr lang="es-AR" sz="3200" dirty="0"/>
              <a:t>: ¿Cómo caracterizar la experiencia media de pérdida familiar?</a:t>
            </a:r>
          </a:p>
          <a:p>
            <a:endParaRPr lang="es-AR" sz="3200" dirty="0"/>
          </a:p>
          <a:p>
            <a:r>
              <a:rPr lang="es-AR" sz="3200" u="sng" dirty="0"/>
              <a:t>Necesidad de este estudio</a:t>
            </a:r>
            <a:r>
              <a:rPr lang="es-AR" sz="3200" dirty="0"/>
              <a:t>: experiencias de duelo se asocian con peores situaciones de salud. Sería deseable medir y comparar diferencias poblacionales en  la experiencia promedio de pérdida.</a:t>
            </a:r>
          </a:p>
          <a:p>
            <a:endParaRPr lang="es-AR" sz="3200" dirty="0"/>
          </a:p>
          <a:p>
            <a:r>
              <a:rPr lang="es-AR" sz="3200" dirty="0"/>
              <a:t>Aquí proponemos (inicialmente) tres indicadores con una asociación pérdida/duelo/dolor algo clara según bibliografía.</a:t>
            </a:r>
          </a:p>
          <a:p>
            <a:endParaRPr lang="es-AR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4911DA2C-785F-588C-7019-351C48FE4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>
            <a:extLst>
              <a:ext uri="{FF2B5EF4-FFF2-40B4-BE49-F238E27FC236}">
                <a16:creationId xmlns:a16="http://schemas.microsoft.com/office/drawing/2014/main" id="{5BAEDF9E-D7D0-2810-268E-07F707F0FC3E}"/>
              </a:ext>
            </a:extLst>
          </p:cNvPr>
          <p:cNvSpPr/>
          <p:nvPr/>
        </p:nvSpPr>
        <p:spPr>
          <a:xfrm>
            <a:off x="15365427" y="373378"/>
            <a:ext cx="2423563" cy="959457"/>
          </a:xfrm>
          <a:custGeom>
            <a:avLst/>
            <a:gdLst/>
            <a:ahLst/>
            <a:cxnLst/>
            <a:rect l="l" t="t" r="r" b="b"/>
            <a:pathLst>
              <a:path w="2423563" h="959457" extrusionOk="0">
                <a:moveTo>
                  <a:pt x="0" y="0"/>
                </a:moveTo>
                <a:lnTo>
                  <a:pt x="2423563" y="0"/>
                </a:lnTo>
                <a:lnTo>
                  <a:pt x="2423563" y="959456"/>
                </a:lnTo>
                <a:lnTo>
                  <a:pt x="0" y="959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C5CB6A-DFEE-9E87-4BDA-2D16826F4C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52" y="1518593"/>
            <a:ext cx="12770387" cy="83401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AB0352-9F72-502F-E217-8F1F5365E1B7}"/>
              </a:ext>
            </a:extLst>
          </p:cNvPr>
          <p:cNvSpPr txBox="1"/>
          <p:nvPr/>
        </p:nvSpPr>
        <p:spPr>
          <a:xfrm>
            <a:off x="13250774" y="3180265"/>
            <a:ext cx="4884374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u="none" strike="noStrike" baseline="0" dirty="0">
                <a:latin typeface="CMR10"/>
              </a:rPr>
              <a:t>1950: </a:t>
            </a:r>
          </a:p>
          <a:p>
            <a:pPr marL="457200" indent="-457200">
              <a:buFontTx/>
              <a:buChar char="-"/>
            </a:pPr>
            <a:r>
              <a:rPr lang="en-US" sz="3200" b="0" i="0" u="none" strike="noStrike" baseline="0" dirty="0">
                <a:latin typeface="CMR10"/>
              </a:rPr>
              <a:t>GTM: </a:t>
            </a:r>
            <a:r>
              <a:rPr lang="en-US" sz="3200" b="0" i="0" u="none" strike="noStrike" baseline="0" dirty="0" err="1">
                <a:latin typeface="CMR10"/>
              </a:rPr>
              <a:t>alta</a:t>
            </a:r>
            <a:r>
              <a:rPr lang="en-US" sz="3200" b="0" i="0" u="none" strike="noStrike" baseline="0" dirty="0">
                <a:latin typeface="CMR10"/>
              </a:rPr>
              <a:t> </a:t>
            </a:r>
            <a:r>
              <a:rPr lang="en-US" sz="3200" b="0" i="0" u="none" strike="noStrike" baseline="0" dirty="0" err="1">
                <a:latin typeface="CMR10"/>
              </a:rPr>
              <a:t>dispersión</a:t>
            </a:r>
            <a:endParaRPr lang="en-US" sz="3200" b="0" i="0" u="none" strike="noStrike" baseline="0" dirty="0">
              <a:latin typeface="CMR10"/>
            </a:endParaRPr>
          </a:p>
          <a:p>
            <a:pPr marL="457200" indent="-457200">
              <a:buFontTx/>
              <a:buChar char="-"/>
            </a:pPr>
            <a:r>
              <a:rPr lang="en-US" sz="3200" dirty="0">
                <a:latin typeface="CMR10"/>
              </a:rPr>
              <a:t>A la </a:t>
            </a:r>
            <a:r>
              <a:rPr lang="en-US" sz="3200" dirty="0" err="1">
                <a:latin typeface="CMR10"/>
              </a:rPr>
              <a:t>edad</a:t>
            </a:r>
            <a:r>
              <a:rPr lang="en-US" sz="3200" dirty="0">
                <a:latin typeface="CMR10"/>
              </a:rPr>
              <a:t> 30: ARG </a:t>
            </a:r>
            <a:r>
              <a:rPr lang="en-US" sz="3200" dirty="0" err="1">
                <a:latin typeface="CMR10"/>
              </a:rPr>
              <a:t>perdió</a:t>
            </a:r>
            <a:r>
              <a:rPr lang="en-US" sz="3200" dirty="0">
                <a:latin typeface="CMR10"/>
              </a:rPr>
              <a:t> 0,24 </a:t>
            </a:r>
            <a:r>
              <a:rPr lang="en-US" sz="3200" dirty="0" err="1">
                <a:latin typeface="CMR10"/>
              </a:rPr>
              <a:t>hijos</a:t>
            </a:r>
            <a:r>
              <a:rPr lang="en-US" sz="3200" dirty="0">
                <a:latin typeface="CMR10"/>
              </a:rPr>
              <a:t> (de 2,6 </a:t>
            </a:r>
            <a:r>
              <a:rPr lang="en-US" sz="3200" dirty="0" err="1">
                <a:latin typeface="CMR10"/>
              </a:rPr>
              <a:t>tenidos</a:t>
            </a:r>
            <a:r>
              <a:rPr lang="en-US" sz="3200" dirty="0">
                <a:latin typeface="CMR10"/>
              </a:rPr>
              <a:t>, 10%) y GTM 1,5 </a:t>
            </a:r>
            <a:r>
              <a:rPr lang="en-US" sz="3200" dirty="0" err="1">
                <a:latin typeface="CMR10"/>
              </a:rPr>
              <a:t>hijos</a:t>
            </a:r>
            <a:r>
              <a:rPr lang="en-US" sz="3200" dirty="0">
                <a:latin typeface="CMR10"/>
              </a:rPr>
              <a:t> (de 5,2, ~30%)</a:t>
            </a:r>
          </a:p>
          <a:p>
            <a:r>
              <a:rPr lang="en-US" sz="3200" dirty="0">
                <a:latin typeface="CMR10"/>
              </a:rPr>
              <a:t>2015: </a:t>
            </a:r>
            <a:r>
              <a:rPr lang="en-US" sz="3200" b="0" i="0" u="none" strike="noStrike" baseline="0" dirty="0" err="1">
                <a:latin typeface="CMR10"/>
              </a:rPr>
              <a:t>Convergencia</a:t>
            </a:r>
            <a:r>
              <a:rPr lang="en-US" sz="3200" b="0" i="0" u="none" strike="noStrike" baseline="0" dirty="0">
                <a:latin typeface="CMR10"/>
              </a:rPr>
              <a:t> </a:t>
            </a:r>
            <a:r>
              <a:rPr lang="en-US" sz="3200" b="0" i="0" u="none" strike="noStrike" baseline="0" dirty="0" err="1">
                <a:latin typeface="CMR10"/>
              </a:rPr>
              <a:t>aún</a:t>
            </a:r>
            <a:r>
              <a:rPr lang="en-US" sz="3200" b="0" i="0" u="none" strike="noStrike" baseline="0" dirty="0">
                <a:latin typeface="CMR10"/>
              </a:rPr>
              <a:t> con </a:t>
            </a:r>
            <a:r>
              <a:rPr lang="en-US" sz="3200" b="0" i="0" u="none" strike="noStrike" baseline="0" dirty="0" err="1">
                <a:latin typeface="CMR10"/>
              </a:rPr>
              <a:t>distinto</a:t>
            </a:r>
            <a:r>
              <a:rPr lang="en-US" sz="3200" b="0" i="0" u="none" strike="noStrike" baseline="0" dirty="0">
                <a:latin typeface="CMR10"/>
              </a:rPr>
              <a:t> </a:t>
            </a:r>
            <a:r>
              <a:rPr lang="en-US" sz="3200" b="0" i="0" u="none" strike="noStrike" baseline="0" dirty="0" err="1">
                <a:latin typeface="CMR10"/>
              </a:rPr>
              <a:t>nivel</a:t>
            </a:r>
            <a:endParaRPr lang="en-US" sz="3200" b="0" i="0" u="none" strike="noStrike" baseline="0" dirty="0">
              <a:latin typeface="CMR10"/>
            </a:endParaRPr>
          </a:p>
          <a:p>
            <a:pPr marL="457200" indent="-457200">
              <a:buFontTx/>
              <a:buChar char="-"/>
            </a:pPr>
            <a:endParaRPr lang="en-US" sz="3200" b="0" i="0" u="none" strike="noStrike" baseline="0" dirty="0">
              <a:latin typeface="CMR10"/>
            </a:endParaRPr>
          </a:p>
          <a:p>
            <a:pPr marL="457200" indent="-457200">
              <a:buFontTx/>
              <a:buChar char="-"/>
            </a:pPr>
            <a:endParaRPr lang="en-US" sz="3200" b="0" i="0" u="none" strike="noStrike" baseline="0" dirty="0">
              <a:latin typeface="CMR10"/>
            </a:endParaRPr>
          </a:p>
          <a:p>
            <a:endParaRPr 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8A6201-82A4-9BEF-489A-072407D8DC4A}"/>
              </a:ext>
            </a:extLst>
          </p:cNvPr>
          <p:cNvSpPr txBox="1"/>
          <p:nvPr/>
        </p:nvSpPr>
        <p:spPr>
          <a:xfrm>
            <a:off x="499010" y="191386"/>
            <a:ext cx="1357259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000" dirty="0"/>
              <a:t>Argentina y Guatemala</a:t>
            </a:r>
            <a:br>
              <a:rPr lang="es-AR" sz="4000" dirty="0"/>
            </a:br>
            <a:r>
              <a:rPr lang="es-AR" sz="4000" dirty="0"/>
              <a:t>Cantidad de defunción de parientes. Años 1950 y 2015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282668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6DD91446-4FFF-7470-C28A-C205FA0A4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>
            <a:extLst>
              <a:ext uri="{FF2B5EF4-FFF2-40B4-BE49-F238E27FC236}">
                <a16:creationId xmlns:a16="http://schemas.microsoft.com/office/drawing/2014/main" id="{E5B284C6-A771-6CAA-043F-2FC5AE8DCE40}"/>
              </a:ext>
            </a:extLst>
          </p:cNvPr>
          <p:cNvSpPr/>
          <p:nvPr/>
        </p:nvSpPr>
        <p:spPr>
          <a:xfrm>
            <a:off x="15365427" y="373378"/>
            <a:ext cx="2423563" cy="959457"/>
          </a:xfrm>
          <a:custGeom>
            <a:avLst/>
            <a:gdLst/>
            <a:ahLst/>
            <a:cxnLst/>
            <a:rect l="l" t="t" r="r" b="b"/>
            <a:pathLst>
              <a:path w="2423563" h="959457" extrusionOk="0">
                <a:moveTo>
                  <a:pt x="0" y="0"/>
                </a:moveTo>
                <a:lnTo>
                  <a:pt x="2423563" y="0"/>
                </a:lnTo>
                <a:lnTo>
                  <a:pt x="2423563" y="959456"/>
                </a:lnTo>
                <a:lnTo>
                  <a:pt x="0" y="959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13FBCD-5DD2-BDAB-0964-532D3FBFBA61}"/>
              </a:ext>
            </a:extLst>
          </p:cNvPr>
          <p:cNvSpPr txBox="1"/>
          <p:nvPr/>
        </p:nvSpPr>
        <p:spPr>
          <a:xfrm>
            <a:off x="856342" y="591496"/>
            <a:ext cx="133821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000" dirty="0"/>
              <a:t>Tiempo esperado en duelo</a:t>
            </a:r>
            <a:endParaRPr lang="en-US" sz="4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2AC4BB-8D80-636E-831E-85CFD6373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847" y="1181453"/>
            <a:ext cx="10805885" cy="91055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084B429-C34A-2F15-72CA-B6B83610CE3A}"/>
                  </a:ext>
                </a:extLst>
              </p:cNvPr>
              <p:cNvSpPr txBox="1"/>
              <p:nvPr/>
            </p:nvSpPr>
            <p:spPr>
              <a:xfrm>
                <a:off x="11192412" y="2596869"/>
                <a:ext cx="7095588" cy="90479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200" b="0" i="0" u="none" strike="noStrike" baseline="0" dirty="0">
                    <a:latin typeface="CMR10"/>
                  </a:rPr>
                  <a:t>Ego </a:t>
                </a:r>
                <a:r>
                  <a:rPr lang="en-US" sz="3200" b="0" i="0" u="none" strike="noStrike" baseline="0" dirty="0" err="1">
                    <a:latin typeface="CMR10"/>
                  </a:rPr>
                  <a:t>tiene</a:t>
                </a:r>
                <a:r>
                  <a:rPr lang="en-US" sz="3200" b="0" i="0" u="none" strike="noStrike" baseline="0" dirty="0">
                    <a:latin typeface="CMR10"/>
                  </a:rPr>
                  <a:t> 30 </a:t>
                </a:r>
                <a:r>
                  <a:rPr lang="en-US" sz="3200" b="0" i="0" u="none" strike="noStrike" baseline="0" dirty="0" err="1">
                    <a:latin typeface="CMR10"/>
                  </a:rPr>
                  <a:t>años</a:t>
                </a:r>
                <a:r>
                  <a:rPr lang="en-US" sz="3200" b="0" i="0" u="none" strike="noStrike" baseline="0" dirty="0">
                    <a:latin typeface="CMR10"/>
                  </a:rPr>
                  <a:t>. ¿</a:t>
                </a:r>
                <a:r>
                  <a:rPr lang="en-US" sz="3200" b="0" i="0" u="none" strike="noStrike" baseline="0" dirty="0" err="1">
                    <a:latin typeface="CMR10"/>
                  </a:rPr>
                  <a:t>Cuanto</a:t>
                </a:r>
                <a:r>
                  <a:rPr lang="en-US" sz="3200" b="0" i="0" u="none" strike="noStrike" baseline="0" dirty="0">
                    <a:latin typeface="CMR10"/>
                  </a:rPr>
                  <a:t> </a:t>
                </a:r>
                <a:r>
                  <a:rPr lang="en-US" sz="3200" b="0" i="0" u="none" strike="noStrike" baseline="0" dirty="0" err="1">
                    <a:latin typeface="CMR10"/>
                  </a:rPr>
                  <a:t>tiempo</a:t>
                </a:r>
                <a:r>
                  <a:rPr lang="en-US" sz="3200" b="0" i="0" u="none" strike="noStrike" baseline="0" dirty="0">
                    <a:latin typeface="CMR10"/>
                  </a:rPr>
                  <a:t> </a:t>
                </a:r>
                <a:r>
                  <a:rPr lang="en-US" sz="3200" b="0" i="0" u="none" strike="noStrike" baseline="0" dirty="0" err="1">
                    <a:latin typeface="CMR10"/>
                  </a:rPr>
                  <a:t>espera</a:t>
                </a:r>
                <a:r>
                  <a:rPr lang="en-US" sz="3200" b="0" i="0" u="none" strike="noStrike" baseline="0" dirty="0">
                    <a:latin typeface="CMR10"/>
                  </a:rPr>
                  <a:t> </a:t>
                </a:r>
                <a:r>
                  <a:rPr lang="en-US" sz="3200" dirty="0" err="1">
                    <a:latin typeface="CMR10"/>
                  </a:rPr>
                  <a:t>transcurrir</a:t>
                </a:r>
                <a:r>
                  <a:rPr lang="en-US" sz="3200" b="0" i="0" u="none" strike="noStrike" baseline="0" dirty="0">
                    <a:latin typeface="CMR10"/>
                  </a:rPr>
                  <a:t> </a:t>
                </a:r>
                <a:r>
                  <a:rPr lang="en-US" sz="3200" b="0" i="0" u="none" strike="noStrike" baseline="0" dirty="0" err="1">
                    <a:latin typeface="CMR10"/>
                  </a:rPr>
                  <a:t>en</a:t>
                </a:r>
                <a:r>
                  <a:rPr lang="en-US" sz="3200" b="0" i="0" u="none" strike="noStrike" baseline="0" dirty="0">
                    <a:latin typeface="CMR10"/>
                  </a:rPr>
                  <a:t> </a:t>
                </a:r>
                <a:r>
                  <a:rPr lang="en-US" sz="3200" b="0" i="0" u="none" strike="noStrike" baseline="0" dirty="0" err="1">
                    <a:latin typeface="CMR10"/>
                  </a:rPr>
                  <a:t>pérdida</a:t>
                </a:r>
                <a:r>
                  <a:rPr lang="en-US" sz="3200" b="0" i="0" u="none" strike="noStrike" baseline="0" dirty="0">
                    <a:latin typeface="CMR10"/>
                  </a:rPr>
                  <a:t>?</a:t>
                </a:r>
              </a:p>
              <a:p>
                <a:endParaRPr lang="en-US" sz="3200" b="0" i="0" u="none" strike="noStrike" baseline="0" dirty="0">
                  <a:latin typeface="CMR10"/>
                </a:endParaRPr>
              </a:p>
              <a:p>
                <a:r>
                  <a:rPr lang="en-US" sz="3200" dirty="0">
                    <a:latin typeface="CMR10"/>
                  </a:rPr>
                  <a:t>- Abuela: </a:t>
                </a:r>
                <a14:m>
                  <m:oMath xmlns:m="http://schemas.openxmlformats.org/officeDocument/2006/math">
                    <m:r>
                      <a:rPr lang="es-AR" sz="32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s-AR" sz="3200" b="0" i="1" smtClean="0">
                        <a:latin typeface="Cambria Math" panose="02040503050406030204" pitchFamily="18" charset="0"/>
                      </a:rPr>
                      <m:t>(30)</m:t>
                    </m:r>
                  </m:oMath>
                </a14:m>
                <a:endParaRPr lang="en-US" sz="3200" b="0" i="0" u="none" strike="noStrike" baseline="0" dirty="0">
                  <a:latin typeface="CMR10"/>
                </a:endParaRPr>
              </a:p>
              <a:p>
                <a:r>
                  <a:rPr lang="en-US" sz="3200" b="0" i="0" u="none" strike="noStrike" baseline="0" dirty="0">
                    <a:latin typeface="CMR10"/>
                  </a:rPr>
                  <a:t>- Madre: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AR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sz="32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s-AR" sz="3200" b="0" i="1" smtClean="0">
                            <a:latin typeface="Cambria Math" panose="02040503050406030204" pitchFamily="18" charset="0"/>
                          </a:rPr>
                          <m:t>(60)</m:t>
                        </m:r>
                      </m:num>
                      <m:den>
                        <m:r>
                          <a:rPr lang="es-AR" sz="32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s-AR" sz="3200" b="0" i="1" smtClean="0">
                            <a:latin typeface="Cambria Math" panose="02040503050406030204" pitchFamily="18" charset="0"/>
                          </a:rPr>
                          <m:t>(30)</m:t>
                        </m:r>
                      </m:den>
                    </m:f>
                    <m:r>
                      <a:rPr lang="es-AR" sz="32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s-AR" sz="3200" b="0" i="1" smtClean="0">
                        <a:latin typeface="Cambria Math" panose="02040503050406030204" pitchFamily="18" charset="0"/>
                      </a:rPr>
                      <m:t>(60)</m:t>
                    </m:r>
                  </m:oMath>
                </a14:m>
                <a:endParaRPr lang="en-US" sz="3200" b="0" i="0" u="none" strike="noStrike" baseline="0" dirty="0">
                  <a:latin typeface="CMR10"/>
                </a:endParaRPr>
              </a:p>
              <a:p>
                <a:r>
                  <a:rPr lang="en-US" sz="3200" dirty="0">
                    <a:latin typeface="CMR10"/>
                  </a:rPr>
                  <a:t>- </a:t>
                </a:r>
                <a:r>
                  <a:rPr lang="en-US" sz="3200" dirty="0" err="1">
                    <a:latin typeface="CMR10"/>
                  </a:rPr>
                  <a:t>Hijas</a:t>
                </a:r>
                <a:r>
                  <a:rPr lang="en-US" sz="3200" dirty="0">
                    <a:latin typeface="CMR10"/>
                  </a:rPr>
                  <a:t>: </a:t>
                </a:r>
                <a14:m>
                  <m:oMath xmlns:m="http://schemas.openxmlformats.org/officeDocument/2006/math">
                    <m:r>
                      <a:rPr lang="es-AR" sz="3200" b="0" i="1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s-AR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200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e>
                    </m:d>
                    <m:r>
                      <a:rPr lang="es-AR" sz="32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s-AR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sz="3200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s-AR" sz="3200" i="1">
                            <a:latin typeface="Cambria Math" panose="02040503050406030204" pitchFamily="18" charset="0"/>
                          </a:rPr>
                          <m:t>(45)</m:t>
                        </m:r>
                      </m:num>
                      <m:den>
                        <m:r>
                          <a:rPr lang="es-AR" sz="3200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s-AR" sz="3200" i="1">
                            <a:latin typeface="Cambria Math" panose="02040503050406030204" pitchFamily="18" charset="0"/>
                          </a:rPr>
                          <m:t>(30)</m:t>
                        </m:r>
                      </m:den>
                    </m:f>
                    <m:r>
                      <a:rPr lang="es-AR" sz="32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s-AR" sz="3200" i="1">
                        <a:latin typeface="Cambria Math" panose="02040503050406030204" pitchFamily="18" charset="0"/>
                      </a:rPr>
                      <m:t>(45)</m:t>
                    </m:r>
                  </m:oMath>
                </a14:m>
                <a:endParaRPr lang="en-US" sz="3200" dirty="0">
                  <a:latin typeface="CMR10"/>
                </a:endParaRPr>
              </a:p>
              <a:p>
                <a:endParaRPr lang="en-US" sz="3200" b="0" i="0" u="none" strike="noStrike" baseline="0" dirty="0">
                  <a:latin typeface="CMR10"/>
                </a:endParaRPr>
              </a:p>
              <a:p>
                <a:r>
                  <a:rPr lang="en-US" sz="3200" dirty="0">
                    <a:latin typeface="CMR10"/>
                  </a:rPr>
                  <a:t>En </a:t>
                </a:r>
                <a:r>
                  <a:rPr lang="en-US" sz="3200" dirty="0" err="1">
                    <a:latin typeface="CMR10"/>
                  </a:rPr>
                  <a:t>este</a:t>
                </a:r>
                <a:r>
                  <a:rPr lang="en-US" sz="3200" dirty="0">
                    <a:latin typeface="CMR10"/>
                  </a:rPr>
                  <a:t> </a:t>
                </a:r>
                <a:r>
                  <a:rPr lang="en-US" sz="3200" dirty="0" err="1">
                    <a:latin typeface="CMR10"/>
                  </a:rPr>
                  <a:t>último</a:t>
                </a:r>
                <a:r>
                  <a:rPr lang="en-US" sz="3200" dirty="0">
                    <a:latin typeface="CMR10"/>
                  </a:rPr>
                  <a:t> </a:t>
                </a:r>
                <a:r>
                  <a:rPr lang="en-US" sz="3200" dirty="0" err="1">
                    <a:latin typeface="CMR10"/>
                  </a:rPr>
                  <a:t>caso</a:t>
                </a:r>
                <a:r>
                  <a:rPr lang="en-US" sz="3200" dirty="0">
                    <a:latin typeface="CMR10"/>
                  </a:rPr>
                  <a:t>, es mayor que </a:t>
                </a:r>
                <a14:m>
                  <m:oMath xmlns:m="http://schemas.openxmlformats.org/officeDocument/2006/math">
                    <m:r>
                      <a:rPr lang="es-AR" sz="32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s-AR" sz="3200" b="0" i="1" smtClean="0">
                        <a:latin typeface="Cambria Math" panose="02040503050406030204" pitchFamily="18" charset="0"/>
                      </a:rPr>
                      <m:t>(30)</m:t>
                    </m:r>
                  </m:oMath>
                </a14:m>
                <a:endParaRPr lang="en-US" sz="3200" b="0" i="0" u="none" strike="noStrike" baseline="0" dirty="0">
                  <a:latin typeface="CMR10"/>
                </a:endParaRPr>
              </a:p>
              <a:p>
                <a:endParaRPr lang="en-US" sz="3200" b="0" i="0" u="none" strike="noStrike" baseline="0" dirty="0">
                  <a:latin typeface="CMR10"/>
                </a:endParaRPr>
              </a:p>
              <a:p>
                <a:r>
                  <a:rPr lang="en-US" sz="3200" dirty="0">
                    <a:latin typeface="CMR10"/>
                  </a:rPr>
                  <a:t>“Kin-years”: </a:t>
                </a:r>
                <a:r>
                  <a:rPr lang="en-US" sz="3200" dirty="0" err="1">
                    <a:latin typeface="CMR10"/>
                  </a:rPr>
                  <a:t>años</a:t>
                </a:r>
                <a:r>
                  <a:rPr lang="en-US" sz="3200" dirty="0">
                    <a:latin typeface="CMR10"/>
                  </a:rPr>
                  <a:t> de </a:t>
                </a:r>
                <a:r>
                  <a:rPr lang="en-US" sz="3200" dirty="0" err="1">
                    <a:latin typeface="CMR10"/>
                  </a:rPr>
                  <a:t>vida</a:t>
                </a:r>
                <a:r>
                  <a:rPr lang="en-US" sz="3200" dirty="0">
                    <a:latin typeface="CMR10"/>
                  </a:rPr>
                  <a:t> de </a:t>
                </a:r>
                <a:r>
                  <a:rPr lang="en-US" sz="3200" dirty="0" err="1">
                    <a:latin typeface="CMR10"/>
                  </a:rPr>
                  <a:t>determinado</a:t>
                </a:r>
                <a:r>
                  <a:rPr lang="en-US" sz="3200" dirty="0">
                    <a:latin typeface="CMR10"/>
                  </a:rPr>
                  <a:t> </a:t>
                </a:r>
                <a:r>
                  <a:rPr lang="en-US" sz="3200" dirty="0" err="1">
                    <a:latin typeface="CMR10"/>
                  </a:rPr>
                  <a:t>tipo</a:t>
                </a:r>
                <a:r>
                  <a:rPr lang="en-US" sz="3200" dirty="0">
                    <a:latin typeface="CMR10"/>
                  </a:rPr>
                  <a:t> de </a:t>
                </a:r>
                <a:r>
                  <a:rPr lang="en-US" sz="3200" dirty="0" err="1">
                    <a:latin typeface="CMR10"/>
                  </a:rPr>
                  <a:t>pariente</a:t>
                </a:r>
                <a:endParaRPr lang="en-US" sz="3200" dirty="0">
                  <a:latin typeface="CMR10"/>
                </a:endParaRPr>
              </a:p>
              <a:p>
                <a:endParaRPr lang="en-US" sz="3200" b="0" i="0" u="none" strike="noStrike" baseline="0" dirty="0">
                  <a:latin typeface="CMR10"/>
                </a:endParaRPr>
              </a:p>
              <a:p>
                <a:endParaRPr lang="en-US" sz="3200" b="0" i="0" u="none" strike="noStrike" baseline="0" dirty="0">
                  <a:latin typeface="CMR10"/>
                </a:endParaRPr>
              </a:p>
              <a:p>
                <a:endParaRPr lang="en-US" sz="3200" b="0" i="0" u="none" strike="noStrike" baseline="0" dirty="0">
                  <a:latin typeface="CMR10"/>
                </a:endParaRPr>
              </a:p>
              <a:p>
                <a:pPr marL="457200" indent="-457200">
                  <a:buFontTx/>
                  <a:buChar char="-"/>
                </a:pPr>
                <a:endParaRPr lang="en-US" sz="3200" b="0" i="0" u="none" strike="noStrike" baseline="0" dirty="0">
                  <a:latin typeface="CMR10"/>
                </a:endParaRPr>
              </a:p>
              <a:p>
                <a:pPr marL="457200" indent="-457200">
                  <a:buFontTx/>
                  <a:buChar char="-"/>
                </a:pPr>
                <a:endParaRPr lang="en-US" sz="3200" b="0" i="0" u="none" strike="noStrike" baseline="0" dirty="0">
                  <a:latin typeface="CMR10"/>
                </a:endParaRPr>
              </a:p>
              <a:p>
                <a:endParaRPr lang="en-US" sz="3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084B429-C34A-2F15-72CA-B6B83610C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92412" y="2596869"/>
                <a:ext cx="7095588" cy="9047990"/>
              </a:xfrm>
              <a:prstGeom prst="rect">
                <a:avLst/>
              </a:prstGeom>
              <a:blipFill>
                <a:blip r:embed="rId5"/>
                <a:stretch>
                  <a:fillRect l="-2148" t="-876" r="-1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3428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93DA11CC-0FA4-3840-3D8E-A1420E4DC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>
            <a:extLst>
              <a:ext uri="{FF2B5EF4-FFF2-40B4-BE49-F238E27FC236}">
                <a16:creationId xmlns:a16="http://schemas.microsoft.com/office/drawing/2014/main" id="{9C173120-DC8C-1372-02AE-6D1F0FC7FBBF}"/>
              </a:ext>
            </a:extLst>
          </p:cNvPr>
          <p:cNvSpPr/>
          <p:nvPr/>
        </p:nvSpPr>
        <p:spPr>
          <a:xfrm>
            <a:off x="15365427" y="373378"/>
            <a:ext cx="2423563" cy="959457"/>
          </a:xfrm>
          <a:custGeom>
            <a:avLst/>
            <a:gdLst/>
            <a:ahLst/>
            <a:cxnLst/>
            <a:rect l="l" t="t" r="r" b="b"/>
            <a:pathLst>
              <a:path w="2423563" h="959457" extrusionOk="0">
                <a:moveTo>
                  <a:pt x="0" y="0"/>
                </a:moveTo>
                <a:lnTo>
                  <a:pt x="2423563" y="0"/>
                </a:lnTo>
                <a:lnTo>
                  <a:pt x="2423563" y="959456"/>
                </a:lnTo>
                <a:lnTo>
                  <a:pt x="0" y="959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287482-99B1-9D89-A71B-8B789C6C5C32}"/>
              </a:ext>
            </a:extLst>
          </p:cNvPr>
          <p:cNvSpPr txBox="1"/>
          <p:nvPr/>
        </p:nvSpPr>
        <p:spPr>
          <a:xfrm>
            <a:off x="856342" y="591496"/>
            <a:ext cx="133821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000" dirty="0"/>
              <a:t>1) Pérdida de años compartidos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BB69C62-E114-2288-35A4-15E96D0DCE09}"/>
                  </a:ext>
                </a:extLst>
              </p:cNvPr>
              <p:cNvSpPr txBox="1"/>
              <p:nvPr/>
            </p:nvSpPr>
            <p:spPr>
              <a:xfrm>
                <a:off x="628347" y="1980436"/>
                <a:ext cx="6123215" cy="85555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s-AR" sz="3200" b="0" i="0" u="none" strike="noStrike" baseline="0" dirty="0">
                    <a:latin typeface="CMR10"/>
                  </a:rPr>
                  <a:t>Debe ser tiempo “compartible”: Ego y pariente con vida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s-AR" sz="3200" dirty="0">
                    <a:latin typeface="CMR10"/>
                  </a:rPr>
                  <a:t>Sobrevivencia múltiple. El tiempo esperado hasta que la primer muerte ocurra: </a:t>
                </a:r>
                <a14:m>
                  <m:oMath xmlns:m="http://schemas.openxmlformats.org/officeDocument/2006/math">
                    <m:r>
                      <a:rPr lang="es-AR" sz="3200" b="0" i="1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s-AR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AR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s-AR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s-AR" sz="3200" b="0" dirty="0">
                  <a:latin typeface="CMR1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s-AR" sz="3200" b="0" dirty="0">
                    <a:latin typeface="CMR10"/>
                  </a:rPr>
                  <a:t>Descomponible en</a:t>
                </a:r>
                <a:r>
                  <a:rPr lang="es-AR" sz="3200" dirty="0">
                    <a:latin typeface="CMR10"/>
                  </a:rPr>
                  <a:t> </a:t>
                </a:r>
                <a:r>
                  <a:rPr lang="es-AR" sz="3200" b="0" dirty="0">
                    <a:latin typeface="CMR10"/>
                  </a:rPr>
                  <a:t>S1 (previas a edad de focal) y S2 (posteriores)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s-AR" sz="3200" dirty="0">
                    <a:latin typeface="CMR10"/>
                  </a:rPr>
                  <a:t>Interpretación final:</a:t>
                </a:r>
              </a:p>
              <a:p>
                <a:pPr marL="571500" lvl="2" indent="-571500">
                  <a:buFont typeface="+mj-lt"/>
                  <a:buAutoNum type="romanU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AR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sz="3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d>
                          <m:dPr>
                            <m:ctrlPr>
                              <a:rPr lang="es-AR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s-AR" sz="32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d>
                          <m:dPr>
                            <m:ctrlPr>
                              <a:rPr lang="es-AR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</m:oMath>
                </a14:m>
                <a:endParaRPr lang="es-AR" sz="3200" b="0" dirty="0">
                  <a:latin typeface="CMR10"/>
                </a:endParaRPr>
              </a:p>
              <a:p>
                <a:pPr marL="571500" lvl="2" indent="-571500">
                  <a:buFont typeface="+mj-lt"/>
                  <a:buAutoNum type="romanUcPeriod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s-AR" sz="3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AR" sz="3200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s-AR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sz="32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d>
                              <m:dPr>
                                <m:ctrlPr>
                                  <a:rPr lang="es-AR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AR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s-AR" sz="32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s-AR" sz="32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d>
                              <m:dPr>
                                <m:ctrlPr>
                                  <a:rPr lang="es-AR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AR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s-AR" sz="3200" b="0" dirty="0">
                  <a:latin typeface="CMR10"/>
                </a:endParaRPr>
              </a:p>
              <a:p>
                <a:pPr marL="571500" lvl="2" indent="-571500">
                  <a:buFont typeface="+mj-lt"/>
                  <a:buAutoNum type="romanU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AR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sz="3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d>
                          <m:dPr>
                            <m:ctrlPr>
                              <a:rPr lang="es-AR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s-AR" sz="32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s-AR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</m:oMath>
                </a14:m>
                <a:endParaRPr lang="es-AR" sz="3200" b="0" dirty="0">
                  <a:latin typeface="CMR10"/>
                </a:endParaRPr>
              </a:p>
              <a:p>
                <a:pPr marL="457200" indent="-457200">
                  <a:buFontTx/>
                  <a:buChar char="-"/>
                </a:pPr>
                <a:endParaRPr lang="es-AR" sz="3200" dirty="0">
                  <a:latin typeface="CMR10"/>
                </a:endParaRPr>
              </a:p>
              <a:p>
                <a:pPr marL="457200" lvl="1" indent="-457200">
                  <a:buFont typeface="Arial" panose="020B0604020202020204" pitchFamily="34" charset="0"/>
                  <a:buChar char="•"/>
                </a:pPr>
                <a:endParaRPr lang="es-AR" sz="3200" dirty="0">
                  <a:latin typeface="CMR1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s-AR" sz="3200" b="0" i="0" u="none" strike="noStrike" baseline="0" dirty="0">
                  <a:latin typeface="CMR10"/>
                </a:endParaRPr>
              </a:p>
              <a:p>
                <a:endParaRPr lang="en-US" sz="3200" b="0" i="0" u="none" strike="noStrike" baseline="0" dirty="0">
                  <a:latin typeface="CMR10"/>
                </a:endParaRPr>
              </a:p>
              <a:p>
                <a:endParaRPr lang="en-US" sz="3200" b="0" i="0" u="none" strike="noStrike" baseline="0" dirty="0">
                  <a:latin typeface="CMR1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BB69C62-E114-2288-35A4-15E96D0DCE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347" y="1980436"/>
                <a:ext cx="6123215" cy="8555547"/>
              </a:xfrm>
              <a:prstGeom prst="rect">
                <a:avLst/>
              </a:prstGeom>
              <a:blipFill>
                <a:blip r:embed="rId4"/>
                <a:stretch>
                  <a:fillRect l="-2289" t="-927" r="-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85900614-E434-4F71-8B68-10DF793525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8975" y="1389704"/>
            <a:ext cx="11249025" cy="8305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A9EEBC-6825-B46E-CD33-AB5822A8BBD6}"/>
              </a:ext>
            </a:extLst>
          </p:cNvPr>
          <p:cNvSpPr txBox="1"/>
          <p:nvPr/>
        </p:nvSpPr>
        <p:spPr>
          <a:xfrm>
            <a:off x="7461783" y="9785826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400" b="0" i="0" u="none" strike="noStrike" baseline="0" dirty="0">
                <a:latin typeface="CMR10"/>
              </a:rPr>
              <a:t>Años perdidos que se esperaba compartir con parientes. Argentina 2015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8586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BBEC6A86-76BF-7379-DEF2-894783A35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>
            <a:extLst>
              <a:ext uri="{FF2B5EF4-FFF2-40B4-BE49-F238E27FC236}">
                <a16:creationId xmlns:a16="http://schemas.microsoft.com/office/drawing/2014/main" id="{38376021-9D6F-0624-AC34-8F739F4414D7}"/>
              </a:ext>
            </a:extLst>
          </p:cNvPr>
          <p:cNvSpPr/>
          <p:nvPr/>
        </p:nvSpPr>
        <p:spPr>
          <a:xfrm>
            <a:off x="15365427" y="373378"/>
            <a:ext cx="2423563" cy="959457"/>
          </a:xfrm>
          <a:custGeom>
            <a:avLst/>
            <a:gdLst/>
            <a:ahLst/>
            <a:cxnLst/>
            <a:rect l="l" t="t" r="r" b="b"/>
            <a:pathLst>
              <a:path w="2423563" h="959457" extrusionOk="0">
                <a:moveTo>
                  <a:pt x="0" y="0"/>
                </a:moveTo>
                <a:lnTo>
                  <a:pt x="2423563" y="0"/>
                </a:lnTo>
                <a:lnTo>
                  <a:pt x="2423563" y="959456"/>
                </a:lnTo>
                <a:lnTo>
                  <a:pt x="0" y="959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758CE2-C9D2-4475-1214-888916C8A26F}"/>
              </a:ext>
            </a:extLst>
          </p:cNvPr>
          <p:cNvSpPr txBox="1"/>
          <p:nvPr/>
        </p:nvSpPr>
        <p:spPr>
          <a:xfrm>
            <a:off x="856341" y="591496"/>
            <a:ext cx="69977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000" dirty="0"/>
              <a:t>2) Superposición de tipos</a:t>
            </a:r>
            <a:endParaRPr lang="en-US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B33F8E-2599-4BFF-6117-166AE51762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41" y="1374388"/>
            <a:ext cx="10050477" cy="80378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AEB3A0-6BEE-EFD3-5CD5-AF61456583F6}"/>
              </a:ext>
            </a:extLst>
          </p:cNvPr>
          <p:cNvSpPr txBox="1"/>
          <p:nvPr/>
        </p:nvSpPr>
        <p:spPr>
          <a:xfrm>
            <a:off x="5769005" y="1876375"/>
            <a:ext cx="54408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i="1" dirty="0"/>
              <a:t>O(90)=1/5.6=18%</a:t>
            </a:r>
            <a:endParaRPr lang="en-US" sz="2800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FB0BB3-8E45-07DE-B3CC-73C08548BE49}"/>
              </a:ext>
            </a:extLst>
          </p:cNvPr>
          <p:cNvSpPr txBox="1"/>
          <p:nvPr/>
        </p:nvSpPr>
        <p:spPr>
          <a:xfrm>
            <a:off x="975721" y="9487275"/>
            <a:ext cx="71861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/>
              <a:t>Superposición temporal de la mortalidad de padres y abuelos a lo largo de la vida del individuo focal. Argentina 2015</a:t>
            </a: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9B9299-187F-2592-456D-1DFE1C02EC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3243" y="6843274"/>
            <a:ext cx="5313965" cy="114645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44FA3BE-5779-7D8A-7388-031ED5629EBB}"/>
              </a:ext>
            </a:extLst>
          </p:cNvPr>
          <p:cNvSpPr txBox="1"/>
          <p:nvPr/>
        </p:nvSpPr>
        <p:spPr>
          <a:xfrm>
            <a:off x="10793427" y="2943134"/>
            <a:ext cx="9144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i="1" dirty="0"/>
              <a:t>La alteración del “orden” esperado en la secuencia de pérdida (padres antes que </a:t>
            </a:r>
          </a:p>
          <a:p>
            <a:r>
              <a:rPr lang="es-ES" sz="3200" i="1" dirty="0"/>
              <a:t>hijos) es un factor importante de dolor</a:t>
            </a:r>
            <a:endParaRPr lang="en-US" sz="3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BEF8A1-B6EB-62E7-1EA5-A406760A59EE}"/>
              </a:ext>
            </a:extLst>
          </p:cNvPr>
          <p:cNvSpPr txBox="1"/>
          <p:nvPr/>
        </p:nvSpPr>
        <p:spPr>
          <a:xfrm>
            <a:off x="11462890" y="5774207"/>
            <a:ext cx="544086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i="1" dirty="0"/>
              <a:t>Porción de pérdidas que fue solapada</a:t>
            </a:r>
            <a:endParaRPr 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1317879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6EE09716-B681-367D-8BB8-727317883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>
            <a:extLst>
              <a:ext uri="{FF2B5EF4-FFF2-40B4-BE49-F238E27FC236}">
                <a16:creationId xmlns:a16="http://schemas.microsoft.com/office/drawing/2014/main" id="{F34EB92B-0099-D146-6B2D-5FFC15CD83F5}"/>
              </a:ext>
            </a:extLst>
          </p:cNvPr>
          <p:cNvSpPr/>
          <p:nvPr/>
        </p:nvSpPr>
        <p:spPr>
          <a:xfrm>
            <a:off x="15365427" y="373378"/>
            <a:ext cx="2423563" cy="959457"/>
          </a:xfrm>
          <a:custGeom>
            <a:avLst/>
            <a:gdLst/>
            <a:ahLst/>
            <a:cxnLst/>
            <a:rect l="l" t="t" r="r" b="b"/>
            <a:pathLst>
              <a:path w="2423563" h="959457" extrusionOk="0">
                <a:moveTo>
                  <a:pt x="0" y="0"/>
                </a:moveTo>
                <a:lnTo>
                  <a:pt x="2423563" y="0"/>
                </a:lnTo>
                <a:lnTo>
                  <a:pt x="2423563" y="959456"/>
                </a:lnTo>
                <a:lnTo>
                  <a:pt x="0" y="959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AFDEFE-4FFA-2223-9EBF-FEED3E74DF97}"/>
              </a:ext>
            </a:extLst>
          </p:cNvPr>
          <p:cNvSpPr txBox="1"/>
          <p:nvPr/>
        </p:nvSpPr>
        <p:spPr>
          <a:xfrm>
            <a:off x="856341" y="591496"/>
            <a:ext cx="69977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000" dirty="0"/>
              <a:t>3) Pérdida no esperada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82CA34-7450-24AA-B9A0-9F83A07BB1D3}"/>
              </a:ext>
            </a:extLst>
          </p:cNvPr>
          <p:cNvSpPr txBox="1"/>
          <p:nvPr/>
        </p:nvSpPr>
        <p:spPr>
          <a:xfrm>
            <a:off x="1235265" y="1582350"/>
            <a:ext cx="149763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AR" sz="3200" dirty="0"/>
              <a:t>Edad fija o edad “prematura”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AR" sz="3200" dirty="0"/>
              <a:t>Causas externas: factor de riesgo para duelo con dolor severo (</a:t>
            </a:r>
            <a:r>
              <a:rPr lang="es-AR" sz="3200" dirty="0" err="1"/>
              <a:t>Prolonged</a:t>
            </a:r>
            <a:r>
              <a:rPr lang="es-AR" sz="3200" dirty="0"/>
              <a:t> </a:t>
            </a:r>
            <a:r>
              <a:rPr lang="es-AR" sz="3200" dirty="0" err="1"/>
              <a:t>Grief</a:t>
            </a:r>
            <a:r>
              <a:rPr lang="es-AR" sz="3200" dirty="0"/>
              <a:t> </a:t>
            </a:r>
            <a:r>
              <a:rPr lang="es-AR" sz="3200" dirty="0" err="1"/>
              <a:t>Disorder</a:t>
            </a:r>
            <a:r>
              <a:rPr lang="es-AR" sz="3200" dirty="0"/>
              <a:t>)</a:t>
            </a:r>
            <a:endParaRPr 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2A2B86-5C24-2717-46A3-01C688E30704}"/>
              </a:ext>
            </a:extLst>
          </p:cNvPr>
          <p:cNvSpPr txBox="1"/>
          <p:nvPr/>
        </p:nvSpPr>
        <p:spPr>
          <a:xfrm>
            <a:off x="2024741" y="3398648"/>
            <a:ext cx="643890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/>
              <a:t>Porción de muertes no esperadas sobre el total experimentado</a:t>
            </a:r>
            <a:endParaRPr lang="en-US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B78CBA-3442-113D-5424-107534F417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3428" y="3590381"/>
            <a:ext cx="3961690" cy="6937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9758AC-FEFF-9F5F-4D7A-EC405A80F2D2}"/>
              </a:ext>
            </a:extLst>
          </p:cNvPr>
          <p:cNvSpPr txBox="1"/>
          <p:nvPr/>
        </p:nvSpPr>
        <p:spPr>
          <a:xfrm>
            <a:off x="856341" y="7546182"/>
            <a:ext cx="69977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000" dirty="0"/>
              <a:t>Datos y método</a:t>
            </a:r>
            <a:endParaRPr lang="en-US" sz="4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C959E9-7F1B-AAF5-958D-52DE1DE00C85}"/>
              </a:ext>
            </a:extLst>
          </p:cNvPr>
          <p:cNvSpPr txBox="1"/>
          <p:nvPr/>
        </p:nvSpPr>
        <p:spPr>
          <a:xfrm>
            <a:off x="952798" y="8271823"/>
            <a:ext cx="9144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AR" sz="3200" dirty="0"/>
              <a:t>Fecundidad y mortalidad: WPP2024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AR" sz="3200" dirty="0"/>
              <a:t>Método matricial de parentesco Caswell (2022)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F99DAE-455C-E43D-8CD0-BA02AA579A75}"/>
              </a:ext>
            </a:extLst>
          </p:cNvPr>
          <p:cNvSpPr txBox="1"/>
          <p:nvPr/>
        </p:nvSpPr>
        <p:spPr>
          <a:xfrm>
            <a:off x="856340" y="4995153"/>
            <a:ext cx="914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000" dirty="0"/>
              <a:t>…) Otros indicadores en desarrollo</a:t>
            </a:r>
          </a:p>
          <a:p>
            <a:r>
              <a:rPr lang="es-AR" sz="4000" dirty="0"/>
              <a:t> </a:t>
            </a:r>
            <a:endParaRPr lang="en-US" sz="4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C86605-95E2-99F5-CE70-0D5F6638ADFB}"/>
              </a:ext>
            </a:extLst>
          </p:cNvPr>
          <p:cNvSpPr txBox="1"/>
          <p:nvPr/>
        </p:nvSpPr>
        <p:spPr>
          <a:xfrm>
            <a:off x="991808" y="5912600"/>
            <a:ext cx="9144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AR" sz="3200" dirty="0"/>
              <a:t>Porción de vida en duelo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AR" sz="3200" dirty="0"/>
              <a:t>Tamaño medio de red de soporte</a:t>
            </a:r>
          </a:p>
        </p:txBody>
      </p:sp>
    </p:spTree>
    <p:extLst>
      <p:ext uri="{BB962C8B-B14F-4D97-AF65-F5344CB8AC3E}">
        <p14:creationId xmlns:p14="http://schemas.microsoft.com/office/powerpoint/2010/main" val="1395933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737C1C71-052B-C7A7-E39B-E007D9E4F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>
            <a:extLst>
              <a:ext uri="{FF2B5EF4-FFF2-40B4-BE49-F238E27FC236}">
                <a16:creationId xmlns:a16="http://schemas.microsoft.com/office/drawing/2014/main" id="{BD314C31-72FF-0DDA-912E-58DAC0063F23}"/>
              </a:ext>
            </a:extLst>
          </p:cNvPr>
          <p:cNvSpPr/>
          <p:nvPr/>
        </p:nvSpPr>
        <p:spPr>
          <a:xfrm>
            <a:off x="15365427" y="373378"/>
            <a:ext cx="2423563" cy="959457"/>
          </a:xfrm>
          <a:custGeom>
            <a:avLst/>
            <a:gdLst/>
            <a:ahLst/>
            <a:cxnLst/>
            <a:rect l="l" t="t" r="r" b="b"/>
            <a:pathLst>
              <a:path w="2423563" h="959457" extrusionOk="0">
                <a:moveTo>
                  <a:pt x="0" y="0"/>
                </a:moveTo>
                <a:lnTo>
                  <a:pt x="2423563" y="0"/>
                </a:lnTo>
                <a:lnTo>
                  <a:pt x="2423563" y="959456"/>
                </a:lnTo>
                <a:lnTo>
                  <a:pt x="0" y="959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72130E-061F-6B49-2577-DB0A4FBDF16E}"/>
              </a:ext>
            </a:extLst>
          </p:cNvPr>
          <p:cNvSpPr txBox="1"/>
          <p:nvPr/>
        </p:nvSpPr>
        <p:spPr>
          <a:xfrm>
            <a:off x="957941" y="9396"/>
            <a:ext cx="97777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000" dirty="0"/>
              <a:t>Argentina y Guatemala</a:t>
            </a:r>
            <a:br>
              <a:rPr lang="es-AR" sz="4000" dirty="0"/>
            </a:br>
            <a:r>
              <a:rPr lang="es-AR" sz="4000" dirty="0"/>
              <a:t>Indicadores de duelo. Años 1950 y 2015</a:t>
            </a:r>
            <a:endParaRPr lang="en-US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587ED4-77EF-C6E2-BDB2-1F8540EB2F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4987" y="1819199"/>
            <a:ext cx="14337545" cy="832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2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6C1E6FC5-911D-5740-FFA3-44499C112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>
            <a:extLst>
              <a:ext uri="{FF2B5EF4-FFF2-40B4-BE49-F238E27FC236}">
                <a16:creationId xmlns:a16="http://schemas.microsoft.com/office/drawing/2014/main" id="{2CB52AAA-08F7-89E6-10FB-21CFAB79AC6F}"/>
              </a:ext>
            </a:extLst>
          </p:cNvPr>
          <p:cNvSpPr/>
          <p:nvPr/>
        </p:nvSpPr>
        <p:spPr>
          <a:xfrm>
            <a:off x="15365427" y="373378"/>
            <a:ext cx="2423563" cy="959457"/>
          </a:xfrm>
          <a:custGeom>
            <a:avLst/>
            <a:gdLst/>
            <a:ahLst/>
            <a:cxnLst/>
            <a:rect l="l" t="t" r="r" b="b"/>
            <a:pathLst>
              <a:path w="2423563" h="959457" extrusionOk="0">
                <a:moveTo>
                  <a:pt x="0" y="0"/>
                </a:moveTo>
                <a:lnTo>
                  <a:pt x="2423563" y="0"/>
                </a:lnTo>
                <a:lnTo>
                  <a:pt x="2423563" y="959456"/>
                </a:lnTo>
                <a:lnTo>
                  <a:pt x="0" y="959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A6DC50-FBCE-8081-EE42-6EC0EE8022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6129" y="1713819"/>
            <a:ext cx="12395428" cy="852281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797D4D-9171-5E4A-3B77-1CB9B7F81E9C}"/>
              </a:ext>
            </a:extLst>
          </p:cNvPr>
          <p:cNvSpPr txBox="1"/>
          <p:nvPr/>
        </p:nvSpPr>
        <p:spPr>
          <a:xfrm>
            <a:off x="924074" y="96273"/>
            <a:ext cx="126395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000" dirty="0"/>
              <a:t>Argentina y Guatemala </a:t>
            </a:r>
            <a:br>
              <a:rPr lang="es-AR" sz="4000" dirty="0"/>
            </a:br>
            <a:r>
              <a:rPr lang="es-AR" sz="4000" dirty="0"/>
              <a:t>Solapamiento de padres y abuelos. Años 1950 y 2015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709565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34789E1F-2C02-BA13-446A-C63C29AD6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>
            <a:extLst>
              <a:ext uri="{FF2B5EF4-FFF2-40B4-BE49-F238E27FC236}">
                <a16:creationId xmlns:a16="http://schemas.microsoft.com/office/drawing/2014/main" id="{0243C9E2-FFBB-A77C-3A6D-F02D4AAFAC93}"/>
              </a:ext>
            </a:extLst>
          </p:cNvPr>
          <p:cNvSpPr/>
          <p:nvPr/>
        </p:nvSpPr>
        <p:spPr>
          <a:xfrm>
            <a:off x="15365427" y="373378"/>
            <a:ext cx="2423563" cy="959457"/>
          </a:xfrm>
          <a:custGeom>
            <a:avLst/>
            <a:gdLst/>
            <a:ahLst/>
            <a:cxnLst/>
            <a:rect l="l" t="t" r="r" b="b"/>
            <a:pathLst>
              <a:path w="2423563" h="959457" extrusionOk="0">
                <a:moveTo>
                  <a:pt x="0" y="0"/>
                </a:moveTo>
                <a:lnTo>
                  <a:pt x="2423563" y="0"/>
                </a:lnTo>
                <a:lnTo>
                  <a:pt x="2423563" y="959456"/>
                </a:lnTo>
                <a:lnTo>
                  <a:pt x="0" y="959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02257B-216A-2E9F-A44A-29ADA6DD9796}"/>
              </a:ext>
            </a:extLst>
          </p:cNvPr>
          <p:cNvSpPr txBox="1"/>
          <p:nvPr/>
        </p:nvSpPr>
        <p:spPr>
          <a:xfrm>
            <a:off x="1025674" y="853106"/>
            <a:ext cx="61709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000" dirty="0"/>
              <a:t>Comentarios finales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B3B031-745A-8C0E-5C77-789977DBBBB7}"/>
              </a:ext>
            </a:extLst>
          </p:cNvPr>
          <p:cNvSpPr txBox="1"/>
          <p:nvPr/>
        </p:nvSpPr>
        <p:spPr>
          <a:xfrm>
            <a:off x="1025674" y="1993236"/>
            <a:ext cx="1599232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AR" sz="3600" dirty="0"/>
              <a:t>El duelo varía por tipo de pariente. Difícil ponderar.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AR" sz="3600" dirty="0"/>
              <a:t>“</a:t>
            </a:r>
            <a:r>
              <a:rPr lang="es-AR" sz="3600" dirty="0" err="1"/>
              <a:t>kin-years</a:t>
            </a:r>
            <a:r>
              <a:rPr lang="es-AR" sz="3600" dirty="0"/>
              <a:t>”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AR" sz="3600" dirty="0"/>
              <a:t>Retrospectivo/Prospectivo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AR" sz="3600" dirty="0"/>
              <a:t>Microsimulación: ¿cuantos hijos mueren antes que madres?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AR" sz="3600" dirty="0"/>
              <a:t>Multidisciplinariedad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AR" sz="3600" dirty="0"/>
              <a:t>¿Indicador sintético?</a:t>
            </a:r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B60B5A-DCDD-32C3-8386-45E614C8A76D}"/>
              </a:ext>
            </a:extLst>
          </p:cNvPr>
          <p:cNvSpPr txBox="1"/>
          <p:nvPr/>
        </p:nvSpPr>
        <p:spPr>
          <a:xfrm>
            <a:off x="6342741" y="6718964"/>
            <a:ext cx="31399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5400" dirty="0"/>
              <a:t>¡Gracias!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359878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28729FB9-575A-1B4A-8270-BBDCACBB3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>
            <a:extLst>
              <a:ext uri="{FF2B5EF4-FFF2-40B4-BE49-F238E27FC236}">
                <a16:creationId xmlns:a16="http://schemas.microsoft.com/office/drawing/2014/main" id="{C4A9061D-E545-1D13-DEED-B09A9A9DB57C}"/>
              </a:ext>
            </a:extLst>
          </p:cNvPr>
          <p:cNvSpPr/>
          <p:nvPr/>
        </p:nvSpPr>
        <p:spPr>
          <a:xfrm>
            <a:off x="15365427" y="373378"/>
            <a:ext cx="2423563" cy="959457"/>
          </a:xfrm>
          <a:custGeom>
            <a:avLst/>
            <a:gdLst/>
            <a:ahLst/>
            <a:cxnLst/>
            <a:rect l="l" t="t" r="r" b="b"/>
            <a:pathLst>
              <a:path w="2423563" h="959457" extrusionOk="0">
                <a:moveTo>
                  <a:pt x="0" y="0"/>
                </a:moveTo>
                <a:lnTo>
                  <a:pt x="2423563" y="0"/>
                </a:lnTo>
                <a:lnTo>
                  <a:pt x="2423563" y="959456"/>
                </a:lnTo>
                <a:lnTo>
                  <a:pt x="0" y="959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63BF71-AB62-6413-98B4-6384DB17735C}"/>
              </a:ext>
            </a:extLst>
          </p:cNvPr>
          <p:cNvSpPr txBox="1"/>
          <p:nvPr/>
        </p:nvSpPr>
        <p:spPr>
          <a:xfrm>
            <a:off x="856342" y="591496"/>
            <a:ext cx="38317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000" dirty="0"/>
              <a:t>Anexo</a:t>
            </a:r>
            <a:endParaRPr lang="en-US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C29350-920D-7D59-9B29-8D2D763525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8177" y="1285411"/>
            <a:ext cx="12287250" cy="841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656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</TotalTime>
  <Words>698</Words>
  <Application>Microsoft Office PowerPoint</Application>
  <PresentationFormat>Custom</PresentationFormat>
  <Paragraphs>90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CMR10</vt:lpstr>
      <vt:lpstr>DM Sans</vt:lpstr>
      <vt:lpstr>Cambria Math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Ivo</dc:creator>
  <cp:lastModifiedBy>Williams Iván</cp:lastModifiedBy>
  <cp:revision>35</cp:revision>
  <dcterms:created xsi:type="dcterms:W3CDTF">2006-08-16T00:00:00Z</dcterms:created>
  <dcterms:modified xsi:type="dcterms:W3CDTF">2024-12-11T13:21:48Z</dcterms:modified>
</cp:coreProperties>
</file>